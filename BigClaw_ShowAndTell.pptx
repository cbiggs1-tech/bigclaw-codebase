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5" r:id="rId26"/>
    <p:sldId id="276" r:id="rId27"/>
    <p:sldId id="277" r:id="rId28"/>
    <p:sldId id="278" r:id="rId29"/>
    <p:sldId id="279" r:id="rId30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igclaw 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6576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834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0B90B"/>
                </a:solidFill>
                <a:latin typeface="Calibri"/>
              </a:defRPr>
            </a:pPr>
            <a:r>
              <a:t>BigClaw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E8EDF5"/>
                </a:solidFill>
                <a:latin typeface="Calibri"/>
              </a:defRPr>
            </a:pPr>
            <a:r>
              <a:t>Autonomous Investment Research &amp; Portfolio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3B82F6"/>
                </a:solidFill>
                <a:latin typeface="Calibri"/>
              </a:defRPr>
            </a:pPr>
            <a:r>
              <a:t>Training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754880"/>
            <a:ext cx="3931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B95A8"/>
                </a:solidFill>
                <a:latin typeface="Calibri"/>
              </a:defRPr>
            </a:pPr>
            <a:r>
              <a:t>Curtis Biggs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DBD-AI-001 Rev.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BigClaw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Fully Autonomous Paper-Trading System Running 24/7 on a Raspberry Pi 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0B90B"/>
                </a:solidFill>
                <a:latin typeface="Calibri"/>
              </a:defRPr>
            </a:pPr>
            <a:r>
              <a:t>What you will learn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800" b="0">
                <a:solidFill>
                  <a:srgbClr val="E8EDF5"/>
                </a:solidFill>
                <a:latin typeface="Calibri"/>
              </a:rPr>
              <a:t>Exactly </a:t>
            </a:r>
            <a:r>
              <a:rPr sz="1800" b="1">
                <a:solidFill>
                  <a:srgbClr val="E8EDF5"/>
                </a:solidFill>
                <a:latin typeface="Calibri"/>
              </a:rPr>
              <a:t>what BigClaw is</a:t>
            </a:r>
            <a:r>
              <a:rPr sz="1800" b="0">
                <a:solidFill>
                  <a:srgbClr val="E8EDF5"/>
                </a:solidFill>
                <a:latin typeface="Calibri"/>
              </a:rPr>
              <a:t> and why it was built this way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800" b="0">
                <a:solidFill>
                  <a:srgbClr val="E8EDF5"/>
                </a:solidFill>
                <a:latin typeface="Calibri"/>
              </a:rPr>
              <a:t>How the </a:t>
            </a:r>
            <a:r>
              <a:rPr sz="1800" b="1">
                <a:solidFill>
                  <a:srgbClr val="E8EDF5"/>
                </a:solidFill>
                <a:latin typeface="Calibri"/>
              </a:rPr>
              <a:t>hardware, software, and decision engine</a:t>
            </a:r>
            <a:r>
              <a:rPr sz="1800" b="0">
                <a:solidFill>
                  <a:srgbClr val="E8EDF5"/>
                </a:solidFill>
                <a:latin typeface="Calibri"/>
              </a:rPr>
              <a:t> work together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800" b="0">
                <a:solidFill>
                  <a:srgbClr val="E8EDF5"/>
                </a:solidFill>
                <a:latin typeface="Calibri"/>
              </a:rPr>
              <a:t>How </a:t>
            </a:r>
            <a:r>
              <a:rPr sz="1800" b="1">
                <a:solidFill>
                  <a:srgbClr val="E8EDF5"/>
                </a:solidFill>
                <a:latin typeface="Calibri"/>
              </a:rPr>
              <a:t>trades are made</a:t>
            </a:r>
            <a:r>
              <a:rPr sz="1800" b="0">
                <a:solidFill>
                  <a:srgbClr val="E8EDF5"/>
                </a:solidFill>
                <a:latin typeface="Calibri"/>
              </a:rPr>
              <a:t>, risks are managed, and reports are generated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800" b="0">
                <a:solidFill>
                  <a:srgbClr val="E8EDF5"/>
                </a:solidFill>
                <a:latin typeface="Calibri"/>
              </a:rPr>
              <a:t>How to </a:t>
            </a:r>
            <a:r>
              <a:rPr sz="1800" b="1">
                <a:solidFill>
                  <a:srgbClr val="E8EDF5"/>
                </a:solidFill>
                <a:latin typeface="Calibri"/>
              </a:rPr>
              <a:t>use the dashboard</a:t>
            </a:r>
            <a:r>
              <a:rPr sz="1800" b="0">
                <a:solidFill>
                  <a:srgbClr val="E8EDF5"/>
                </a:solidFill>
                <a:latin typeface="Calibri"/>
              </a:rPr>
              <a:t> to monitor portfolios, signals, and charts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800" b="0">
                <a:solidFill>
                  <a:srgbClr val="E8EDF5"/>
                </a:solidFill>
                <a:latin typeface="Calibri"/>
              </a:rPr>
              <a:t>How to </a:t>
            </a:r>
            <a:r>
              <a:rPr sz="1800" b="1">
                <a:solidFill>
                  <a:srgbClr val="E8EDF5"/>
                </a:solidFill>
                <a:latin typeface="Calibri"/>
              </a:rPr>
              <a:t>monitor, maintain, or rebuild</a:t>
            </a:r>
            <a:r>
              <a:rPr sz="1800" b="0">
                <a:solidFill>
                  <a:srgbClr val="E8EDF5"/>
                </a:solidFill>
                <a:latin typeface="Calibri"/>
              </a:rPr>
              <a:t> the entire system if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B95A8"/>
                </a:solidFill>
                <a:latin typeface="Calibri"/>
              </a:defRPr>
            </a:pPr>
            <a:r>
              <a:t>Presenter: Curtis Biggs  | 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What Is BigClaw?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Mission &amp;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0728655" cy="73152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B90B"/>
                </a:solidFill>
                <a:latin typeface="Calibri"/>
              </a:defRPr>
            </a:pPr>
            <a:r>
              <a:t>A self-running research agent and paper-trading portfolio manager that lives on a single</a:t>
            </a:r>
            <a:br/>
            <a:r>
              <a:t>Raspberry Pi and manages seven distinct investment styles with zero human intervention during market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0">
                <a:solidFill>
                  <a:srgbClr val="E8EDF5"/>
                </a:solidFill>
                <a:latin typeface="Calibri"/>
              </a:rPr>
              <a:t>Gathers live data from </a:t>
            </a:r>
            <a:r>
              <a:rPr sz="1400" b="1">
                <a:solidFill>
                  <a:srgbClr val="E8EDF5"/>
                </a:solidFill>
                <a:latin typeface="Calibri"/>
              </a:rPr>
              <a:t>15+ sources</a:t>
            </a:r>
            <a:r>
              <a:rPr sz="1400" b="0">
                <a:solidFill>
                  <a:srgbClr val="E8EDF5"/>
                </a:solidFill>
                <a:latin typeface="Calibri"/>
              </a:rPr>
              <a:t> every day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0">
                <a:solidFill>
                  <a:srgbClr val="E8EDF5"/>
                </a:solidFill>
                <a:latin typeface="Calibri"/>
              </a:rPr>
              <a:t>Scores </a:t>
            </a:r>
            <a:r>
              <a:rPr sz="1400" b="1">
                <a:solidFill>
                  <a:srgbClr val="E8EDF5"/>
                </a:solidFill>
                <a:latin typeface="Calibri"/>
              </a:rPr>
              <a:t>~105 tickers</a:t>
            </a:r>
            <a:r>
              <a:rPr sz="1400" b="0">
                <a:solidFill>
                  <a:srgbClr val="E8EDF5"/>
                </a:solidFill>
                <a:latin typeface="Calibri"/>
              </a:rPr>
              <a:t> across 15 weighted signals per style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0">
                <a:solidFill>
                  <a:srgbClr val="E8EDF5"/>
                </a:solidFill>
                <a:latin typeface="Calibri"/>
              </a:rPr>
              <a:t>Executes simulated trades via </a:t>
            </a:r>
            <a:r>
              <a:rPr sz="1400" b="1">
                <a:solidFill>
                  <a:srgbClr val="E8EDF5"/>
                </a:solidFill>
                <a:latin typeface="Calibri"/>
              </a:rPr>
              <a:t>Alpaca paper API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0">
                <a:solidFill>
                  <a:srgbClr val="E8EDF5"/>
                </a:solidFill>
                <a:latin typeface="Calibri"/>
              </a:rPr>
              <a:t>Enforces </a:t>
            </a:r>
            <a:r>
              <a:rPr sz="1400" b="1">
                <a:solidFill>
                  <a:srgbClr val="E8EDF5"/>
                </a:solidFill>
                <a:latin typeface="Calibri"/>
              </a:rPr>
              <a:t>trailing stops</a:t>
            </a:r>
            <a:r>
              <a:rPr sz="1400" b="0">
                <a:solidFill>
                  <a:srgbClr val="E8EDF5"/>
                </a:solidFill>
                <a:latin typeface="Calibri"/>
              </a:rPr>
              <a:t>, concentration limits, strict trading window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0">
                <a:solidFill>
                  <a:srgbClr val="E8EDF5"/>
                </a:solidFill>
                <a:latin typeface="Calibri"/>
              </a:rPr>
              <a:t>Delivers real-time </a:t>
            </a:r>
            <a:r>
              <a:rPr sz="1400" b="1">
                <a:solidFill>
                  <a:srgbClr val="E8EDF5"/>
                </a:solidFill>
                <a:latin typeface="Calibri"/>
              </a:rPr>
              <a:t>Slack alerts</a:t>
            </a:r>
            <a:r>
              <a:rPr sz="1400" b="0">
                <a:solidFill>
                  <a:srgbClr val="E8EDF5"/>
                </a:solidFill>
                <a:latin typeface="Calibri"/>
              </a:rPr>
              <a:t> + morning/afternoon reports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0">
                <a:solidFill>
                  <a:srgbClr val="E8EDF5"/>
                </a:solidFill>
                <a:latin typeface="Calibri"/>
              </a:rPr>
              <a:t>Publishes live dashboard at </a:t>
            </a:r>
            <a:r>
              <a:rPr sz="1400" b="1">
                <a:solidFill>
                  <a:srgbClr val="E8EDF5"/>
                </a:solidFill>
                <a:latin typeface="Calibri"/>
              </a:rPr>
              <a:t>bigclaw.grandpapa.net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194560"/>
            <a:ext cx="4572000" cy="914400"/>
          </a:xfrm>
          <a:prstGeom prst="roundRect">
            <a:avLst/>
          </a:prstGeom>
          <a:solidFill>
            <a:srgbClr val="2A1515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Critical Rule</a:t>
            </a:r>
            <a:br/>
            <a:br/>
            <a:r>
              <a:t>This is strictly paper trading.</a:t>
            </a:r>
            <a:br/>
            <a:r>
              <a:t>It has never and will never</a:t>
            </a:r>
            <a:br/>
            <a:r>
              <a:t>touch real money.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383280"/>
            <a:ext cx="4572000" cy="91440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B82F6"/>
                </a:solidFill>
                <a:latin typeface="Calibri"/>
              </a:defRPr>
            </a:pPr>
            <a:r>
              <a:t>Design Philosophy</a:t>
            </a:r>
            <a:br/>
            <a:br/>
            <a:r>
              <a:t>Zero LLM tokens for data gathering,</a:t>
            </a:r>
            <a:br/>
            <a:r>
              <a:t>pricing, and stops. LLMs are used only</a:t>
            </a:r>
            <a:br/>
            <a:r>
              <a:t>for synthesis and conversation.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System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7772400" cy="5303520"/>
          </a:xfrm>
          <a:prstGeom prst="roundRect">
            <a:avLst/>
          </a:prstGeom>
          <a:solidFill>
            <a:srgbClr val="101420"/>
          </a:solidFill>
          <a:ln w="25400">
            <a:solidFill>
              <a:srgbClr val="F0B9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B90B"/>
                </a:solidFill>
                <a:latin typeface="Calibri"/>
              </a:defRPr>
            </a:pPr>
            <a:r>
              <a:t>Raspberry Pi 4B -- "BigClaw" (Single Source of Truth)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146304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bigclaw.service</a:t>
            </a:r>
            <a:br/>
            <a:br/>
            <a:r>
              <a:t>Slack Bot + Claude Agent</a:t>
            </a:r>
            <a:br/>
            <a:r>
              <a:t>36 Interactive Tools</a:t>
            </a:r>
            <a:br/>
            <a:r>
              <a:t>LLM Router +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566160" cy="146304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8C"/>
                </a:solidFill>
                <a:latin typeface="Calibri"/>
              </a:defRPr>
            </a:pPr>
            <a:r>
              <a:t>openclaw-gateway.service</a:t>
            </a:r>
            <a:br/>
            <a:br/>
            <a:r>
              <a:t>Cron Engine (14 jobs)</a:t>
            </a:r>
            <a:br/>
            <a:r>
              <a:t>30+ Python Scripts</a:t>
            </a:r>
            <a:br/>
            <a:r>
              <a:t>27 Agent Skills + SOUL.md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2103120" cy="91440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8EDF5"/>
                </a:solidFill>
                <a:latin typeface="Calibri"/>
              </a:defRPr>
            </a:pPr>
            <a:r>
              <a:t>Lightweight Monitoring</a:t>
            </a:r>
            <a:br/>
            <a:br/>
            <a:r>
              <a:t>stop_check (15 min)</a:t>
            </a:r>
            <a:br/>
            <a:r>
              <a:t>tsla_watchdog (15 min)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383280"/>
            <a:ext cx="2103120" cy="91440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8EDF5"/>
                </a:solidFill>
                <a:latin typeface="Calibri"/>
              </a:defRPr>
            </a:pPr>
            <a:r>
              <a:t>docs/ (GitHub Pages)</a:t>
            </a:r>
            <a:br/>
            <a:br/>
            <a:r>
              <a:t>10 HTML pages</a:t>
            </a:r>
            <a:br/>
            <a:r>
              <a:t>12 JSON data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383280"/>
            <a:ext cx="2468880" cy="91440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8EDF5"/>
                </a:solidFill>
                <a:latin typeface="Calibri"/>
              </a:defRPr>
            </a:pPr>
            <a:r>
              <a:t>portfolios.db</a:t>
            </a:r>
            <a:br/>
            <a:br/>
            <a:r>
              <a:t>SQLite: 6 tables</a:t>
            </a:r>
            <a:br/>
            <a:r>
              <a:t>Source of truth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7223760" cy="73152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8B95A8"/>
                </a:solidFill>
                <a:latin typeface="Calibri"/>
              </a:defRPr>
            </a:pPr>
            <a:r>
              <a:t>Config: portfolio_universes.json  |  expert_overrides.json  |  .env_secrets  |  cron/jobs.json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188720"/>
            <a:ext cx="3017520" cy="548640"/>
          </a:xfrm>
          <a:prstGeom prst="roundRect">
            <a:avLst/>
          </a:prstGeom>
          <a:solidFill>
            <a:srgbClr val="1A3A1A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48C"/>
                </a:solidFill>
                <a:latin typeface="Calibri"/>
              </a:defRPr>
            </a:pPr>
            <a:r>
              <a:t>Alpaca (Paper Trading)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920240"/>
            <a:ext cx="3017520" cy="54864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8EDF5"/>
                </a:solidFill>
                <a:latin typeface="Calibri"/>
              </a:defRPr>
            </a:pPr>
            <a:r>
              <a:t>Yahoo Finance + Finviz + FRED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651760"/>
            <a:ext cx="3017520" cy="54864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0B90B"/>
                </a:solidFill>
                <a:latin typeface="Calibri"/>
              </a:defRPr>
            </a:pPr>
            <a:r>
              <a:t>Unusual Whales (Options Flow)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383280"/>
            <a:ext cx="3017520" cy="54864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8EDF5"/>
                </a:solidFill>
                <a:latin typeface="Calibri"/>
              </a:defRPr>
            </a:pPr>
            <a:r>
              <a:t>X / Reddit / CNN Fear &amp; Greed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114800"/>
            <a:ext cx="3017520" cy="54864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8EDF5"/>
                </a:solidFill>
                <a:latin typeface="Calibri"/>
              </a:defRPr>
            </a:pPr>
            <a:r>
              <a:t>Slack + Discord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846320"/>
            <a:ext cx="3017520" cy="54864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B82F6"/>
                </a:solidFill>
                <a:latin typeface="Calibri"/>
              </a:defRPr>
            </a:pPr>
            <a:r>
              <a:t>Claude Sonnet + Gemini Flash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5577840"/>
            <a:ext cx="3017520" cy="54864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8EDF5"/>
                </a:solidFill>
                <a:latin typeface="Calibri"/>
              </a:defRPr>
            </a:pPr>
            <a:r>
              <a:t>GitHub Pages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275320" y="3200400"/>
            <a:ext cx="36576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Hardware: Why a Raspberry Pi?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Board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Raspberry Pi 4 Model B Rev 1.4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Processor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ARM Cortex-A72 (4 cores @ 1.8 GHz)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8 GB LPDDR4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Storage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256 GB USB SSD (228 GB usable)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OS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Debian 13 (Trixie)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192.168.1.171 (SSH alias: bigclaw)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Power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24/7 operation with auto-restart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0B90B"/>
                </a:solidFill>
                <a:latin typeface="Calibri"/>
              </a:defRPr>
            </a:pPr>
            <a:r>
              <a:t>Why this hardware?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5544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Low power</a:t>
            </a:r>
            <a:r>
              <a:rPr sz="1400" b="0">
                <a:solidFill>
                  <a:srgbClr val="E8EDF5"/>
                </a:solidFill>
                <a:latin typeface="Calibri"/>
              </a:rPr>
              <a:t>, silent, inexpensive to replace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>
                <a:solidFill>
                  <a:srgbClr val="E8EDF5"/>
                </a:solidFill>
                <a:latin typeface="Calibri"/>
              </a:rPr>
              <a:t>Entire system lives on this one device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Pi is the single source of truth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>
                <a:solidFill>
                  <a:srgbClr val="E8EDF5"/>
                </a:solidFill>
                <a:latin typeface="Calibri"/>
              </a:rPr>
              <a:t>Local copies &amp; GitHub are review snapshots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114800"/>
            <a:ext cx="4114800" cy="82296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B95A8"/>
                </a:solidFill>
                <a:latin typeface="Calibri"/>
              </a:defRPr>
            </a:pPr>
            <a:r>
              <a:t>Rebuild tip: Any Pi 4/5 with 8 GB RAM +</a:t>
            </a:r>
            <a:br/>
            <a:r>
              <a:t>USB SSD works. Full restore takes &lt; 1 hour.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Two Codebases That Work as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B82F6"/>
                </a:solidFill>
                <a:latin typeface="Calibri"/>
              </a:defRPr>
            </a:pPr>
            <a:r>
              <a:t>Core App  ~/bigclaw-ai/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Slack bot</a:t>
            </a:r>
            <a:r>
              <a:rPr sz="1300" b="0">
                <a:solidFill>
                  <a:srgbClr val="E8EDF5"/>
                </a:solidFill>
                <a:latin typeface="Calibri"/>
              </a:rPr>
              <a:t> (bot.py) -- always listening via Socket Mode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Claude agent</a:t>
            </a:r>
            <a:r>
              <a:rPr sz="1300" b="0">
                <a:solidFill>
                  <a:srgbClr val="E8EDF5"/>
                </a:solidFill>
                <a:latin typeface="Calibri"/>
              </a:rPr>
              <a:t> (agent.py) -- tool-use conversation loop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36 interactive tools</a:t>
            </a:r>
            <a:r>
              <a:rPr sz="1300" b="0">
                <a:solidFill>
                  <a:srgbClr val="E8EDF5"/>
                </a:solidFill>
                <a:latin typeface="Calibri"/>
              </a:rPr>
              <a:t> across 10 modules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Price Oracle</a:t>
            </a:r>
            <a:r>
              <a:rPr sz="1300" b="0">
                <a:solidFill>
                  <a:srgbClr val="E8EDF5"/>
                </a:solidFill>
                <a:latin typeface="Calibri"/>
              </a:rPr>
              <a:t> + </a:t>
            </a:r>
            <a:r>
              <a:rPr sz="1300" b="1">
                <a:solidFill>
                  <a:srgbClr val="E8EDF5"/>
                </a:solidFill>
                <a:latin typeface="Calibri"/>
              </a:rPr>
              <a:t>Output Guardrail</a:t>
            </a:r>
            <a:r>
              <a:rPr sz="1300" b="0">
                <a:solidFill>
                  <a:srgbClr val="E8EDF5"/>
                </a:solidFill>
                <a:latin typeface="Calibri"/>
              </a:rPr>
              <a:t> (anti-hallucination)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SQLite ORM</a:t>
            </a:r>
            <a:r>
              <a:rPr sz="1300" b="0">
                <a:solidFill>
                  <a:srgbClr val="E8EDF5"/>
                </a:solidFill>
                <a:latin typeface="Calibri"/>
              </a:rPr>
              <a:t> + </a:t>
            </a:r>
            <a:r>
              <a:rPr sz="1300" b="1">
                <a:solidFill>
                  <a:srgbClr val="E8EDF5"/>
                </a:solidFill>
                <a:latin typeface="Calibri"/>
              </a:rPr>
              <a:t>LLM router</a:t>
            </a:r>
            <a:r>
              <a:rPr sz="1300" b="0">
                <a:solidFill>
                  <a:srgbClr val="E8EDF5"/>
                </a:solidFill>
                <a:latin typeface="Calibri"/>
              </a:rPr>
              <a:t> (Gemini for routine, Sonnet for reasoning)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GitHub Pages</a:t>
            </a:r>
            <a:r>
              <a:rPr sz="1300" b="0">
                <a:solidFill>
                  <a:srgbClr val="E8EDF5"/>
                </a:solidFill>
                <a:latin typeface="Calibri"/>
              </a:rPr>
              <a:t> data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0B90B"/>
                </a:solidFill>
                <a:latin typeface="Calibri"/>
              </a:defRPr>
            </a:pPr>
            <a:r>
              <a:t>Automation  ~/.openclaw/workspace/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Cron engine</a:t>
            </a:r>
            <a:r>
              <a:rPr sz="1300" b="0">
                <a:solidFill>
                  <a:srgbClr val="E8EDF5"/>
                </a:solidFill>
                <a:latin typeface="Calibri"/>
              </a:rPr>
              <a:t> with 14 scheduled jobs (jobs.json)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30+ standalone Python scripts</a:t>
            </a:r>
            <a:r>
              <a:rPr sz="1300" b="0">
                <a:solidFill>
                  <a:srgbClr val="E8EDF5"/>
                </a:solidFill>
                <a:latin typeface="Calibri"/>
              </a:rPr>
              <a:t> (data, trading, analysis)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27 modular agent skills</a:t>
            </a:r>
            <a:r>
              <a:rPr sz="1300" b="0">
                <a:solidFill>
                  <a:srgbClr val="E8EDF5"/>
                </a:solidFill>
                <a:latin typeface="Calibri"/>
              </a:rPr>
              <a:t> (load on demand from ClawHub)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SOUL.md</a:t>
            </a:r>
            <a:r>
              <a:rPr sz="1300" b="0">
                <a:solidFill>
                  <a:srgbClr val="E8EDF5"/>
                </a:solidFill>
                <a:latin typeface="Calibri"/>
              </a:rPr>
              <a:t> -- the agent's constitution (personality + rules)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Portfolio universes</a:t>
            </a:r>
            <a:r>
              <a:rPr sz="1300" b="0">
                <a:solidFill>
                  <a:srgbClr val="E8EDF5"/>
                </a:solidFill>
                <a:latin typeface="Calibri"/>
              </a:rPr>
              <a:t> &amp; </a:t>
            </a:r>
            <a:r>
              <a:rPr sz="1300" b="1">
                <a:solidFill>
                  <a:srgbClr val="E8EDF5"/>
                </a:solidFill>
                <a:latin typeface="Calibri"/>
              </a:rPr>
              <a:t>expert overrides</a:t>
            </a:r>
            <a:r>
              <a:rPr sz="1300" b="0">
                <a:solidFill>
                  <a:srgbClr val="E8EDF5"/>
                </a:solidFill>
                <a:latin typeface="Calibri"/>
              </a:rPr>
              <a:t> (config files)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27432" cy="41148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5486400"/>
            <a:ext cx="7589520" cy="54864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B90B"/>
                </a:solidFill>
                <a:latin typeface="Calibri"/>
              </a:defRPr>
            </a:pPr>
            <a:r>
              <a:t>Result: Fast, auditable, and easy to maintain.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Database: The Single Source of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One SQLite file (src/portfolios.db) contains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45720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B90B"/>
                </a:solidFill>
                <a:latin typeface="Calibri"/>
              </a:defRPr>
            </a:pPr>
            <a:r>
              <a:t>portfolios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20"/>
            <a:ext cx="3566160" cy="73152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8EDF5"/>
                </a:solidFill>
                <a:latin typeface="Calibri"/>
              </a:defRPr>
            </a:pPr>
            <a:r>
              <a:t>style, cash,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45720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B90B"/>
                </a:solidFill>
                <a:latin typeface="Calibri"/>
              </a:defRPr>
            </a:pPr>
            <a:r>
              <a:t>holdings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74520"/>
            <a:ext cx="3566160" cy="73152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8EDF5"/>
                </a:solidFill>
                <a:latin typeface="Calibri"/>
              </a:defRPr>
            </a:pPr>
            <a:r>
              <a:t>current positions + rationale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45720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B90B"/>
                </a:solidFill>
                <a:latin typeface="Calibri"/>
              </a:defRPr>
            </a:pPr>
            <a:r>
              <a:t>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20"/>
            <a:ext cx="3566160" cy="73152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8EDF5"/>
                </a:solidFill>
                <a:latin typeface="Calibri"/>
              </a:defRPr>
            </a:pPr>
            <a:r>
              <a:t>every buy/sell with timestamp &amp; reason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3566160" cy="45720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B90B"/>
                </a:solidFill>
                <a:latin typeface="Calibri"/>
              </a:defRPr>
            </a:pPr>
            <a:r>
              <a:t>daily_snapshots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69080"/>
            <a:ext cx="3566160" cy="73152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8EDF5"/>
                </a:solidFill>
                <a:latin typeface="Calibri"/>
              </a:defRPr>
            </a:pPr>
            <a:r>
              <a:t>performance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566160"/>
            <a:ext cx="3566160" cy="45720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B90B"/>
                </a:solidFill>
                <a:latin typeface="Calibri"/>
              </a:defRPr>
            </a:pPr>
            <a:r>
              <a:t>pending_orders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069080"/>
            <a:ext cx="3566160" cy="73152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8EDF5"/>
                </a:solidFill>
                <a:latin typeface="Calibri"/>
              </a:defRPr>
            </a:pPr>
            <a:r>
              <a:t>stop/limit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566160"/>
            <a:ext cx="3566160" cy="45720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B90B"/>
                </a:solidFill>
                <a:latin typeface="Calibri"/>
              </a:defRPr>
            </a:pPr>
            <a:r>
              <a:t>trailing_stops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069080"/>
            <a:ext cx="3566160" cy="73152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8EDF5"/>
                </a:solidFill>
                <a:latin typeface="Calibri"/>
              </a:defRPr>
            </a:pPr>
            <a:r>
              <a:t>high-water-mark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029200"/>
            <a:ext cx="8503920" cy="64008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B95A8"/>
                </a:solidFill>
                <a:latin typeface="Calibri"/>
              </a:defRPr>
            </a:pPr>
            <a:r>
              <a:t>Rebuild note: If the DB is lost, the next autonomous_trader.py run automatically</a:t>
            </a:r>
            <a:br/>
            <a:r>
              <a:t>syncs with Alpaca and rebuilds holdings/transactions.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7 Portfolios &amp; Style Fidelity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Each portfolio has its own investing philosophy -- and the engine enforces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017520"/>
                <a:gridCol w="3017520"/>
                <a:gridCol w="4114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Portfolio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Style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Modeled After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Value Picks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Deep Value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Benjamin Graham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Innovation Fund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Disruptive Innovation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Cathie Wood / ARK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Growth Value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GARP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Peter Lynch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Income Dividends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Dividend Growth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Dividend Aristocrats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Momentum Growth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Aggressive Momentum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Quantitative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Nuclear Renaissance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Nuclear Energy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Thematic Structural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AI Defense &amp; Autonomous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AI / Defense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Pentagon Spending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B90B"/>
                </a:solidFill>
                <a:latin typeface="Calibri"/>
              </a:defRPr>
            </a:pPr>
            <a:r>
              <a:t>Rules (never relaxed):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0">
                <a:solidFill>
                  <a:srgbClr val="E8EDF5"/>
                </a:solidFill>
                <a:latin typeface="Calibri"/>
              </a:rPr>
              <a:t>Max </a:t>
            </a:r>
            <a:r>
              <a:rPr sz="1300" b="1">
                <a:solidFill>
                  <a:srgbClr val="E8EDF5"/>
                </a:solidFill>
                <a:latin typeface="Calibri"/>
              </a:rPr>
              <a:t>10 holdings</a:t>
            </a:r>
            <a:r>
              <a:rPr sz="1300" b="0">
                <a:solidFill>
                  <a:srgbClr val="E8EDF5"/>
                </a:solidFill>
                <a:latin typeface="Calibri"/>
              </a:rPr>
              <a:t>, min </a:t>
            </a:r>
            <a:r>
              <a:rPr sz="1300" b="1">
                <a:solidFill>
                  <a:srgbClr val="E8EDF5"/>
                </a:solidFill>
                <a:latin typeface="Calibri"/>
              </a:rPr>
              <a:t>7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0">
                <a:solidFill>
                  <a:srgbClr val="E8EDF5"/>
                </a:solidFill>
                <a:latin typeface="Calibri"/>
              </a:rPr>
              <a:t>Max </a:t>
            </a:r>
            <a:r>
              <a:rPr sz="1300" b="1">
                <a:solidFill>
                  <a:srgbClr val="E8EDF5"/>
                </a:solidFill>
                <a:latin typeface="Calibri"/>
              </a:rPr>
              <a:t>20%</a:t>
            </a:r>
            <a:r>
              <a:rPr sz="1300" b="0">
                <a:solidFill>
                  <a:srgbClr val="E8EDF5"/>
                </a:solidFill>
                <a:latin typeface="Calibri"/>
              </a:rPr>
              <a:t> in any single position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>
                <a:solidFill>
                  <a:srgbClr val="E8EDF5"/>
                </a:solidFill>
                <a:latin typeface="Calibri"/>
              </a:rPr>
              <a:t>Monthly auto-rebalance (first trading 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46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2% cash reserve</a:t>
            </a:r>
            <a:r>
              <a:rPr sz="1300" b="0">
                <a:solidFill>
                  <a:srgbClr val="E8EDF5"/>
                </a:solidFill>
                <a:latin typeface="Calibri"/>
              </a:rPr>
              <a:t> minimum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$25K</a:t>
            </a:r>
            <a:r>
              <a:rPr sz="1300" b="0">
                <a:solidFill>
                  <a:srgbClr val="E8EDF5"/>
                </a:solidFill>
                <a:latin typeface="Calibri"/>
              </a:rPr>
              <a:t> max order size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>
                <a:solidFill>
                  <a:srgbClr val="E8EDF5"/>
                </a:solidFill>
                <a:latin typeface="Calibri"/>
              </a:rPr>
              <a:t>$100K starting capital per portfolio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8th Portfolio — LLM-ETF Focus (Experimental)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Added June 2026 as a controlled experiment — no rule-based engine, no style gates. Observed: ETF-tilted sector rotation.</a:t>
            </a:r>
          </a:p>
          <a:p>
            <a:pPr/>
            <a:r>
              <a:rPr sz="1400"/>
              <a:t>Architecture: 3-Sonnet dialectic — Bull / Bear / Judge agents run sequentially each weekday at 11:00 CT</a:t>
            </a:r>
          </a:p>
          <a:p>
            <a:pPr/>
            <a:r>
              <a:rPr sz="1400"/>
              <a:t>BULL builds the case FOR candidate trades. BEAR challenges every bull thesis with counter-evidence.</a:t>
            </a:r>
          </a:p>
          <a:p>
            <a:pPr/>
            <a:r>
              <a:rPr sz="1400"/>
              <a:t>JUDGE reads data + bull + bear + own journal, must explicitly address strongest counter-arguments before committing trades.</a:t>
            </a:r>
          </a:p>
          <a:p>
            <a:pPr/>
            <a:r>
              <a:rPr sz="1400"/>
              <a:t>Every trade requires an exit_thesis (gain target / stop loss / time-based) — verified later, becomes journal feedback.</a:t>
            </a:r>
          </a:p>
          <a:p>
            <a:pPr/>
            <a:r>
              <a:rPr sz="1400"/>
              <a:t>Recursive learning: data/llm_journal.jsonl accumulates decisions + outcomes; model reads its own track record each cycle.</a:t>
            </a:r>
          </a:p>
          <a:p>
            <a:pPr/>
            <a:r>
              <a:rPr sz="1400"/>
              <a:t>Anti-cheating: ticker validation, cash wall, market-hours gate, training-cutoff awareness in prompt.</a:t>
            </a:r>
          </a:p>
          <a:p>
            <a:pPr/>
            <a:r>
              <a:rPr sz="1400"/>
              <a:t>Safety: catastrophic drawdown freeze at $50K (50% of starting $100K) — pauses trading, alerts Slack, manual resolve.</a:t>
            </a:r>
          </a:p>
          <a:p>
            <a:pPr/>
            <a:r>
              <a:rPr sz="1400"/>
              <a:t>Cost: ~$0.13/cycle, ~$34/year.</a:t>
            </a:r>
          </a:p>
          <a:p>
            <a:pPr/>
            <a:r>
              <a:rPr sz="1400"/>
              <a:t>Experimental purpose: Does LLM judgment with structured self-feedback beat hand-coded rules and SPY?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9th Portfolio — LLM-Comando (Stock Picker)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Added June 10 2026 as a parallel experiment to LLM-ETF Focus — same dialectic, individual-stock mandate.</a:t>
            </a:r>
          </a:p>
          <a:p>
            <a:pPr/>
            <a:r>
              <a:rPr sz="1300"/>
              <a:t>Same 3-Sonnet dialectic (Bull / Bear / Judge), same watcher + reconciler architecture</a:t>
            </a:r>
          </a:p>
          <a:p>
            <a:pPr/>
            <a:r>
              <a:rPr sz="1300"/>
              <a:t>STRICT stock preference: ETFs forbidden in all three agent prompts except explicit hedging</a:t>
            </a:r>
          </a:p>
          <a:p>
            <a:pPr/>
            <a:r>
              <a:rPr sz="1300"/>
              <a:t>Candidate universe expanded: holdings + watchlist + ~60 curated liquid names from portfolio_universes.json</a:t>
            </a:r>
          </a:p>
          <a:p>
            <a:pPr/>
            <a:r>
              <a:rPr sz="1300"/>
              <a:t>Bull builds case for single names with company-specific catalysts (earnings, upgrades, insider buys, M&amp;A)</a:t>
            </a:r>
          </a:p>
          <a:p>
            <a:pPr/>
            <a:r>
              <a:rPr sz="1300"/>
              <a:t>Bear vetoes any ETF candidate, demands a specific stock within the basket with better asymmetry</a:t>
            </a:r>
          </a:p>
          <a:p>
            <a:pPr/>
            <a:r>
              <a:rPr sz="1300"/>
              <a:t>Judge defaults to specific stocks; ETFs need explicit justification or are forbidden</a:t>
            </a:r>
          </a:p>
          <a:p>
            <a:pPr/>
            <a:r>
              <a:rPr sz="1300"/>
              <a:t>Dry-run (June 10): picked AMAT (Cantor + UBS PT raises) and APA (Iran/oil thesis) — no ETFs</a:t>
            </a:r>
          </a:p>
          <a:p>
            <a:pPr/>
            <a:r>
              <a:rPr sz="1300"/>
              <a:t>Cost: ~$0.18/cycle (vs $0.13 for ETF Focus) — expanded news context. Annual ≈ $45.</a:t>
            </a:r>
          </a:p>
          <a:p>
            <a:pPr/>
            <a:r>
              <a:rPr sz="1300"/>
              <a:t>Experimental question: which LLM style beats SPY first — sector ETF rotation or single-name picks?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Comando Dialectic Upgrade (June 15): The Judge Finds the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300" b="1"/>
              <a:t>Live lesson from the experiment: on June 15 Comando bought AAL on a day-old catalyst (oil drop + signed MOU) already baked into a stock that had already run. It got in late and faded. Fast iteration means we fix as we go.</a:t>
            </a:r>
          </a:p>
          <a:p>
            <a:pPr/>
            <a:r>
              <a:rPr sz="1300" b="0"/>
              <a:t>BULL (Sonnet 4.6) - argues the strongest case FOR each single-stock trade, citing company-specific catalysts.</a:t>
            </a:r>
          </a:p>
          <a:p>
            <a:pPr/>
            <a:r>
              <a:rPr sz="1300" b="0"/>
              <a:t>BEAR (Sonnet 4.6) - Stage 1 fact-verifies every Bull claim; Stage 2 now runs a MANDATORY already-priced-in test (freshness, has price already moved, durable vs reflexive driver). True-but-priced-in is a disqualifying weakness.</a:t>
            </a:r>
          </a:p>
          <a:p>
            <a:pPr/>
            <a:r>
              <a:rPr sz="1300" b="0"/>
              <a:t>JUDGE (Opus 4.8) - the only seat whose calls become trades. Now leads with GAP-ANALYSIS before adjudicating: names what BOTH Bull and Bear missed - already priced in? durable or reflexive? what makes this wrong? - via a required gap_analysis field.</a:t>
            </a:r>
          </a:p>
          <a:p>
            <a:pPr/>
            <a:r>
              <a:rPr sz="1300" b="0"/>
              <a:t>Why it matters: Bull and Bear are advocates; a coherent debate can be blind to the question neither raised. Synthesizing two advocates only averages views already in the price (beta). The alpha is in the shared omission - that is the Judge's job.</a:t>
            </a:r>
          </a:p>
          <a:p>
            <a:pPr/>
            <a:r>
              <a:rPr sz="1300" b="0"/>
              <a:t>Reusable beyond Comando: gap-first synthesis is a design rule for any LLM decision system built on this platform.</a:t>
            </a:r>
          </a:p>
          <a:p>
            <a:pPr/>
            <a:r>
              <a:rPr sz="1300" b="0"/>
              <a:t>Status: shipped, committed (e36e277d5), pushed to GitHub; live from the 11:30 CT cycle - no restart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June 16-18 Upgrades: Regime-Aware, Active, Conviction-Held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300" b="1"/>
              <a:t>Theme of the batch: give the two LLM portfolios a forward, regime-aware read of the market, let Comando be active in a bull tape, and let CONVICTION - not the clock - govern exits. Five changes shipped June 16-18.</a:t>
            </a:r>
          </a:p>
          <a:p>
            <a:pPr/>
            <a:r>
              <a:rPr sz="1200" b="0"/>
              <a:t>Macro-regime cycle pack (Jun 16): both LLM books now read a 'cycle tells' block - VIX level/trend, high-yield vs investment-grade credit, 10y yield, offense/defense (XLY vs XLP), breadth (IWM vs SPY), 3-month rotation leaders. ETF Focus positions sectors months-out (lead the rotation); Comando uses VIX to set aggression.</a:t>
            </a:r>
          </a:p>
          <a:p>
            <a:pPr/>
            <a:r>
              <a:rPr sz="1200" b="0"/>
              <a:t>Comando momentum sourcing (Jun 17): pulls the rule engine's ~537 scored names and ranks momentum leaders (1mo+3mo relative strength, proximity to 6-month high) into a MOMENTUM LEADERS block - so Comando trades clean uptrends instead of sitting in cash after gap-analysis rejects priced-in headlines.</a:t>
            </a:r>
          </a:p>
          <a:p>
            <a:pPr/>
            <a:r>
              <a:rPr sz="1200" b="0"/>
              <a:t>ETF Focus event-risk rule (Jun 18): do NOT open a new position into a binary event (FOMC/CPI/jobs/earnings) in the next 1-2 days; existing positions are still held through. Born from a June 17 XLF-into-FOMC same-day whipsaw.</a:t>
            </a:r>
          </a:p>
          <a:p>
            <a:pPr/>
            <a:r>
              <a:rPr sz="1200" b="0"/>
              <a:t>Conviction-based exit for Comando (Jun 18): replaced the time-based quick-out. Before selling, ask 'would I buy this right now?' - if yes, HOLD; if no, sell and redeploy. Holding time is irrelevant; the trigger is always conviction, never a timer.</a:t>
            </a:r>
          </a:p>
          <a:p>
            <a:pPr/>
            <a:r>
              <a:rPr sz="1200" b="0"/>
              <a:t>Reliability: fundamentals cache (Jun 16) - SQLite cache of yfinance .info that serves stale data on a 429, ending the Yahoo throttling that broke the scorer (08:30 pre-warm). Morning brief rebuilt around feeds we actually use (Decision Engine, IV skew/spread, macro regime); dead Unusual Whales sections removed.</a:t>
            </a:r>
          </a:p>
          <a:p>
            <a:pPr/>
            <a:r>
              <a:rPr sz="1200" b="0"/>
              <a:t>Status: all shipped, committed, and pushed to GitHub; Design Basis + this deck updated current through June 18 2026, 15:30 CT.</a:t>
            </a:r>
          </a:p>
          <a:p>
            <a:r>
              <a:rPr sz="1100" i="1"/>
              <a:t>NOTE (June 25 2026): the months-horizon framing for ETF Focus and Comando's momentum sourcing were later REVERTED - see the next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Brain: Decision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15 signals x style-specific weights = disciplined, philosophy-true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B90B"/>
                </a:solidFill>
                <a:latin typeface="Calibri"/>
              </a:defRPr>
            </a:pPr>
            <a:r>
              <a:t>Signal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Technical</a:t>
            </a:r>
            <a:r>
              <a:rPr sz="1300" b="0">
                <a:solidFill>
                  <a:srgbClr val="E8EDF5"/>
                </a:solidFill>
                <a:latin typeface="Calibri"/>
              </a:rPr>
              <a:t>: RSI, MACD, SMA 50/200, Golden/Death Cross, Relative Strength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Fundamental</a:t>
            </a:r>
            <a:r>
              <a:rPr sz="1300" b="0">
                <a:solidFill>
                  <a:srgbClr val="E8EDF5"/>
                </a:solidFill>
                <a:latin typeface="Calibri"/>
              </a:rPr>
              <a:t>: Earnings &amp; Revenue Growth, P/E, Debt/Equity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Sentiment &amp; Override</a:t>
            </a:r>
            <a:r>
              <a:rPr sz="1300" b="0">
                <a:solidFill>
                  <a:srgbClr val="E8EDF5"/>
                </a:solidFill>
                <a:latin typeface="Calibri"/>
              </a:rPr>
              <a:t>: Insider, Short Interest, Bond Market, Dividend Yield, Value Override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303520" cy="64008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Why weights matter: A ticker can legitimately be a STRONG BUY in Momentum Growth</a:t>
            </a:r>
            <a:br/>
            <a:r>
              <a:t>and a HOLD in Value Picks on the same 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B90B"/>
                </a:solidFill>
                <a:latin typeface="Calibri"/>
              </a:defRPr>
            </a:pPr>
            <a:r>
              <a:t>Score-to-Action Mapping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155448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21031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Label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C48C"/>
                          </a:solidFill>
                          <a:latin typeface="Calibri"/>
                        </a:defRPr>
                      </a:pPr>
                      <a:r>
                        <a:t>&gt;= 3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C48C"/>
                          </a:solidFill>
                          <a:latin typeface="Calibri"/>
                        </a:defRPr>
                      </a:pPr>
                      <a:r>
                        <a:t>STRONG BUY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C48C"/>
                          </a:solidFill>
                          <a:latin typeface="Calibri"/>
                        </a:defRPr>
                      </a:pPr>
                      <a:r>
                        <a:t>Buy candidate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0C480"/>
                          </a:solidFill>
                          <a:latin typeface="Calibri"/>
                        </a:defRPr>
                      </a:pPr>
                      <a:r>
                        <a:t>1 to 2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0C480"/>
                          </a:solidFill>
                          <a:latin typeface="Calibri"/>
                        </a:defRPr>
                      </a:pPr>
                      <a:r>
                        <a:t>BUY / HOLD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0C480"/>
                          </a:solidFill>
                          <a:latin typeface="Calibri"/>
                        </a:defRPr>
                      </a:pPr>
                      <a:r>
                        <a:t>Hold or add on dip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B95A8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B95A8"/>
                          </a:solidFill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B95A8"/>
                          </a:solidFill>
                          <a:latin typeface="Calibri"/>
                        </a:defRPr>
                      </a:pPr>
                      <a:r>
                        <a:t>No action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A040"/>
                          </a:solidFill>
                          <a:latin typeface="Calibri"/>
                        </a:defRPr>
                      </a:pPr>
                      <a:r>
                        <a:t>-1 to -2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A040"/>
                          </a:solidFill>
                          <a:latin typeface="Calibri"/>
                        </a:defRPr>
                      </a:pPr>
                      <a:r>
                        <a:t>WATCH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A040"/>
                          </a:solidFill>
                          <a:latin typeface="Calibri"/>
                        </a:defRPr>
                      </a:pPr>
                      <a:r>
                        <a:t>Monitor closely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&lt;= -3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SELL / TRIM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Trim or exit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8368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B90B"/>
                </a:solidFill>
                <a:latin typeface="Calibri"/>
              </a:defRPr>
            </a:pPr>
            <a:r>
              <a:t>Special Guardrails: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200" b="1">
                <a:solidFill>
                  <a:srgbClr val="E8EDF5"/>
                </a:solidFill>
                <a:latin typeface="Calibri"/>
              </a:rPr>
              <a:t>Bond headwind</a:t>
            </a:r>
            <a:r>
              <a:rPr sz="1200" b="0">
                <a:solidFill>
                  <a:srgbClr val="E8EDF5"/>
                </a:solidFill>
                <a:latin typeface="Calibri"/>
              </a:rPr>
              <a:t> override for marginal scores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200" b="1">
                <a:solidFill>
                  <a:srgbClr val="E8EDF5"/>
                </a:solidFill>
                <a:latin typeface="Calibri"/>
              </a:rPr>
              <a:t>Value override cap</a:t>
            </a:r>
            <a:r>
              <a:rPr sz="1200" b="0">
                <a:solidFill>
                  <a:srgbClr val="E8EDF5"/>
                </a:solidFill>
                <a:latin typeface="Calibri"/>
              </a:rPr>
              <a:t> -- can't rescue badly scored tickers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200" b="1">
                <a:solidFill>
                  <a:srgbClr val="E8EDF5"/>
                </a:solidFill>
                <a:latin typeface="Calibri"/>
              </a:rPr>
              <a:t>Rescreen</a:t>
            </a:r>
            <a:r>
              <a:rPr sz="1200" b="0">
                <a:solidFill>
                  <a:srgbClr val="E8EDF5"/>
                </a:solidFill>
                <a:latin typeface="Calibri"/>
              </a:rPr>
              <a:t> swaps require +3 point advantage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Autonomous Trading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Daily 10:30 AM ET -- Always Sell-First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9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B82F6"/>
                </a:solidFill>
                <a:latin typeface="Calibri"/>
              </a:defRPr>
            </a:pPr>
            <a:r>
              <a:t>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5A8"/>
                </a:solidFill>
                <a:latin typeface="Calibri"/>
              </a:defRPr>
            </a:pPr>
            <a:r>
              <a:t>Reconcile DB</a:t>
            </a:r>
            <a:br/>
            <a:r>
              <a:t>with Alpaca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1600200"/>
            <a:ext cx="18288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68880" y="14630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103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B82F6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5A8"/>
                </a:solidFill>
                <a:latin typeface="Calibri"/>
              </a:defRPr>
            </a:pPr>
            <a:r>
              <a:t>Decision engine</a:t>
            </a:r>
            <a:br/>
            <a:r>
              <a:t>full rescreen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29000" y="1600200"/>
            <a:ext cx="18288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60520" y="1463040"/>
            <a:ext cx="548640" cy="548640"/>
          </a:xfrm>
          <a:prstGeom prst="ellipse">
            <a:avLst/>
          </a:prstGeom>
          <a:solidFill>
            <a:srgbClr val="8B9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03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95A8"/>
                </a:solidFill>
                <a:latin typeface="Calibri"/>
              </a:defRPr>
            </a:pPr>
            <a:r>
              <a:t>Rebalance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5A8"/>
                </a:solidFill>
                <a:latin typeface="Calibri"/>
              </a:defRPr>
            </a:pPr>
            <a:r>
              <a:t>Monthly trim</a:t>
            </a:r>
            <a:br/>
            <a:r>
              <a:t>if needed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120640" y="1600200"/>
            <a:ext cx="18288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52160" y="146304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103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EF4444"/>
                </a:solidFill>
                <a:latin typeface="Calibri"/>
              </a:defRPr>
            </a:pPr>
            <a:r>
              <a:t>Sells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5A8"/>
                </a:solidFill>
                <a:latin typeface="Calibri"/>
              </a:defRPr>
            </a:pPr>
            <a:r>
              <a:t>Execute sells +</a:t>
            </a:r>
            <a:br/>
            <a:r>
              <a:t>triggered stops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12280" y="1600200"/>
            <a:ext cx="18288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43800" y="1463040"/>
            <a:ext cx="548640" cy="548640"/>
          </a:xfrm>
          <a:prstGeom prst="ellipse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103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C48C"/>
                </a:solidFill>
                <a:latin typeface="Calibri"/>
              </a:defRPr>
            </a:pPr>
            <a:r>
              <a:t>Buys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5A8"/>
                </a:solidFill>
                <a:latin typeface="Calibri"/>
              </a:defRPr>
            </a:pPr>
            <a:r>
              <a:t>Deploy cash</a:t>
            </a:r>
            <a:br/>
            <a:r>
              <a:t>into new buys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03920" y="1600200"/>
            <a:ext cx="18288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35440" y="14630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103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B82F6"/>
                </a:solidFill>
                <a:latin typeface="Calibri"/>
              </a:defRPr>
            </a:pPr>
            <a:r>
              <a:t>Post-Sync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5A8"/>
                </a:solidFill>
                <a:latin typeface="Calibri"/>
              </a:defRPr>
            </a:pPr>
            <a:r>
              <a:t>Re-verify DB</a:t>
            </a:r>
            <a:br/>
            <a:r>
              <a:t>vs Alpaca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195560" y="1600200"/>
            <a:ext cx="18288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27080" y="1463040"/>
            <a:ext cx="548640" cy="54864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103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0B90B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2423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95A8"/>
                </a:solidFill>
                <a:latin typeface="Calibri"/>
              </a:defRPr>
            </a:pPr>
            <a:r>
              <a:t>Summary to</a:t>
            </a:r>
            <a:br/>
            <a:r>
              <a:t>Slack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Calibri"/>
              </a:defRPr>
            </a:pPr>
            <a:r>
              <a:t>Safety (non-negotiable):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206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Trading window</a:t>
            </a:r>
            <a:r>
              <a:rPr sz="1400" b="0">
                <a:solidFill>
                  <a:srgbClr val="E8EDF5"/>
                </a:solidFill>
                <a:latin typeface="Calibri"/>
              </a:rPr>
              <a:t>: 10:00 AM -- 4:00 PM ET weekdays only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Sell before buy</a:t>
            </a:r>
            <a:r>
              <a:rPr sz="1400" b="0">
                <a:solidFill>
                  <a:srgbClr val="E8EDF5"/>
                </a:solidFill>
                <a:latin typeface="Calibri"/>
              </a:rPr>
              <a:t> -- prevents over-allocation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Max 3 round-trips</a:t>
            </a:r>
            <a:r>
              <a:rPr sz="1400" b="0">
                <a:solidFill>
                  <a:srgbClr val="E8EDF5"/>
                </a:solidFill>
                <a:latin typeface="Calibri"/>
              </a:rPr>
              <a:t> per ticker per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2% cash reserve</a:t>
            </a:r>
            <a:r>
              <a:rPr sz="1400" b="0">
                <a:solidFill>
                  <a:srgbClr val="E8EDF5"/>
                </a:solidFill>
                <a:latin typeface="Calibri"/>
              </a:rPr>
              <a:t> minimum per portfolio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$25K max</a:t>
            </a:r>
            <a:r>
              <a:rPr sz="1400" b="0">
                <a:solidFill>
                  <a:srgbClr val="E8EDF5"/>
                </a:solidFill>
                <a:latin typeface="Calibri"/>
              </a:rPr>
              <a:t> single order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Concentration alerts</a:t>
            </a:r>
            <a:r>
              <a:rPr sz="1400" b="0">
                <a:solidFill>
                  <a:srgbClr val="E8EDF5"/>
                </a:solidFill>
                <a:latin typeface="Calibri"/>
              </a:rPr>
              <a:t> every 2 hours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Risk Management: Trailing Stops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Style-specific protection that only gets tighter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09728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25603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Portfolio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Trail %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0B90B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 marL="73152" marR="73152" marT="36576" marB="36576">
                    <a:solidFill>
                      <a:srgbClr val="1E25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Value Picks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Trust the thesis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Innovation Fund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Volatile by nature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Income Dividends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Moderate protection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Growth Value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GARP discipline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Nuclear Renaissance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Thematic structural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AI Defense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Thematic structural</a:t>
                      </a:r>
                    </a:p>
                  </a:txBody>
                  <a:tcPr marL="73152" marR="73152" marT="36576" marB="36576">
                    <a:solidFill>
                      <a:srgbClr val="161B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Momentum Growth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8EDF5"/>
                          </a:solidFill>
                          <a:latin typeface="Calibri"/>
                        </a:defRPr>
                      </a:pPr>
                      <a:r>
                        <a:t>Cut losers fastest</a:t>
                      </a:r>
                    </a:p>
                  </a:txBody>
                  <a:tcPr marL="73152" marR="73152" marT="36576" marB="36576"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B90B"/>
                </a:solidFill>
                <a:latin typeface="Calibri"/>
              </a:defRPr>
            </a:pPr>
            <a:r>
              <a:t>How stops work: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Initialize</a:t>
            </a:r>
            <a:r>
              <a:rPr sz="1400" b="0">
                <a:solidFill>
                  <a:srgbClr val="E8EDF5"/>
                </a:solidFill>
                <a:latin typeface="Calibri"/>
              </a:rPr>
              <a:t> at purchase (HWM = max(price, avg cost))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Ratchet upward</a:t>
            </a:r>
            <a:r>
              <a:rPr sz="1400" b="0">
                <a:solidFill>
                  <a:srgbClr val="E8EDF5"/>
                </a:solidFill>
                <a:latin typeface="Calibri"/>
              </a:rPr>
              <a:t> every 15 min + 2-hour price refresh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Never move down</a:t>
            </a:r>
            <a:r>
              <a:rPr sz="1400" b="0">
                <a:solidFill>
                  <a:srgbClr val="E8EDF5"/>
                </a:solidFill>
                <a:latin typeface="Calibri"/>
              </a:rPr>
              <a:t> -- this is the key protection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Emergency</a:t>
            </a:r>
            <a:r>
              <a:rPr sz="1400" b="0">
                <a:solidFill>
                  <a:srgbClr val="E8EDF5"/>
                </a:solidFill>
                <a:latin typeface="Calibri"/>
              </a:rPr>
              <a:t>: tighten_stops(0.5) halves all bands instantly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0">
                <a:solidFill>
                  <a:srgbClr val="E8EDF5"/>
                </a:solidFill>
                <a:latin typeface="Calibri"/>
              </a:rPr>
              <a:t>stop_check.py runs </a:t>
            </a:r>
            <a:r>
              <a:rPr sz="1400" b="1">
                <a:solidFill>
                  <a:srgbClr val="E8EDF5"/>
                </a:solidFill>
                <a:latin typeface="Calibri"/>
              </a:rPr>
              <a:t>zero-LLM</a:t>
            </a:r>
            <a:r>
              <a:rPr sz="1400" b="0">
                <a:solidFill>
                  <a:srgbClr val="E8EDF5"/>
                </a:solidFill>
                <a:latin typeface="Calibri"/>
              </a:rPr>
              <a:t>, every 15 min during market hours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 Day (and Weekend) in BigClaw's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B90B"/>
                </a:solidFill>
                <a:latin typeface="Calibri"/>
              </a:defRPr>
            </a:pPr>
            <a:r>
              <a:t>Weekday Schedule (all times 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0B90B"/>
                </a:solidFill>
                <a:latin typeface="Calibri"/>
              </a:defRPr>
            </a:pPr>
            <a:r>
              <a:t>7:00 AM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1627632"/>
            <a:ext cx="146304" cy="146304"/>
          </a:xfrm>
          <a:prstGeom prst="ellipse">
            <a:avLst/>
          </a:prstGeom>
          <a:solidFill>
            <a:srgbClr val="8B9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DF5"/>
                </a:solidFill>
                <a:latin typeface="Calibri"/>
              </a:defRPr>
            </a:pPr>
            <a:r>
              <a:t>Security + health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0B90B"/>
                </a:solidFill>
                <a:latin typeface="Calibri"/>
              </a:defRPr>
            </a:pPr>
            <a:r>
              <a:t>7:30 AM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213055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057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DF5"/>
                </a:solidFill>
                <a:latin typeface="Calibri"/>
              </a:defRPr>
            </a:pPr>
            <a:r>
              <a:t>Daily export: sectors, calendar, trades, analysis,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0B90B"/>
                </a:solidFill>
                <a:latin typeface="Calibri"/>
              </a:defRPr>
            </a:pPr>
            <a:r>
              <a:t>8:55 AM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" y="263347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560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DF5"/>
                </a:solidFill>
                <a:latin typeface="Calibri"/>
              </a:defRPr>
            </a:pPr>
            <a:r>
              <a:t>Morning data gather (flat file)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0B90B"/>
                </a:solidFill>
                <a:latin typeface="Calibri"/>
              </a:defRPr>
            </a:pPr>
            <a:r>
              <a:t>9:00 AM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0" y="3136392"/>
            <a:ext cx="146304" cy="146304"/>
          </a:xfrm>
          <a:prstGeom prst="ellipse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3063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DF5"/>
                </a:solidFill>
                <a:latin typeface="Calibri"/>
              </a:defRPr>
            </a:pPr>
            <a:r>
              <a:t>Signals refresh -- supervisory window opens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0B90B"/>
                </a:solidFill>
                <a:latin typeface="Calibri"/>
              </a:defRPr>
            </a:pPr>
            <a:r>
              <a:t>9:30 AM</a:t>
            </a:r>
          </a:p>
        </p:txBody>
      </p:sp>
      <p:sp>
        <p:nvSpPr>
          <p:cNvPr id="20" name="Oval 19"/>
          <p:cNvSpPr/>
          <p:nvPr/>
        </p:nvSpPr>
        <p:spPr>
          <a:xfrm>
            <a:off x="2286000" y="3639312"/>
            <a:ext cx="146304" cy="146304"/>
          </a:xfrm>
          <a:prstGeom prst="ellipse">
            <a:avLst/>
          </a:prstGeom>
          <a:solidFill>
            <a:srgbClr val="00C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566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DF5"/>
                </a:solidFill>
                <a:latin typeface="Calibri"/>
              </a:defRPr>
            </a:pPr>
            <a:r>
              <a:t>Autonomous trader executes (sells, swaps, buys)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0B90B"/>
                </a:solidFill>
                <a:latin typeface="Calibri"/>
              </a:defRPr>
            </a:pPr>
            <a:r>
              <a:t>5x daily</a:t>
            </a:r>
          </a:p>
        </p:txBody>
      </p:sp>
      <p:sp>
        <p:nvSpPr>
          <p:cNvPr id="23" name="Oval 22"/>
          <p:cNvSpPr/>
          <p:nvPr/>
        </p:nvSpPr>
        <p:spPr>
          <a:xfrm>
            <a:off x="2286000" y="4142232"/>
            <a:ext cx="146304" cy="146304"/>
          </a:xfrm>
          <a:prstGeom prst="ellipse">
            <a:avLst/>
          </a:prstGeom>
          <a:solidFill>
            <a:srgbClr val="8B9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DF5"/>
                </a:solidFill>
                <a:latin typeface="Calibri"/>
              </a:defRPr>
            </a:pPr>
            <a:r>
              <a:t>Signals + prices + macro + charts (pure Python)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0B90B"/>
                </a:solidFill>
                <a:latin typeface="Calibri"/>
              </a:defRPr>
            </a:pPr>
            <a:r>
              <a:t>Every 15 min</a:t>
            </a:r>
          </a:p>
        </p:txBody>
      </p:sp>
      <p:sp>
        <p:nvSpPr>
          <p:cNvPr id="26" name="Oval 25"/>
          <p:cNvSpPr/>
          <p:nvPr/>
        </p:nvSpPr>
        <p:spPr>
          <a:xfrm>
            <a:off x="2286000" y="4645152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572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DF5"/>
                </a:solidFill>
                <a:latin typeface="Calibri"/>
              </a:defRPr>
            </a:pPr>
            <a:r>
              <a:t>Trailing stop monitor (zero LLM cost)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0B90B"/>
                </a:solidFill>
                <a:latin typeface="Calibri"/>
              </a:defRPr>
            </a:pPr>
            <a:r>
              <a:t>4:25 PM</a:t>
            </a:r>
          </a:p>
        </p:txBody>
      </p:sp>
      <p:sp>
        <p:nvSpPr>
          <p:cNvPr id="29" name="Oval 28"/>
          <p:cNvSpPr/>
          <p:nvPr/>
        </p:nvSpPr>
        <p:spPr>
          <a:xfrm>
            <a:off x="2286000" y="514807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5074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DF5"/>
                </a:solidFill>
                <a:latin typeface="Calibri"/>
              </a:defRPr>
            </a:pPr>
            <a:r>
              <a:t>Afternoon data gather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0B90B"/>
                </a:solidFill>
                <a:latin typeface="Calibri"/>
              </a:defRPr>
            </a:pPr>
            <a:r>
              <a:t>4:30 PM</a:t>
            </a:r>
          </a:p>
        </p:txBody>
      </p:sp>
      <p:sp>
        <p:nvSpPr>
          <p:cNvPr id="32" name="Oval 31"/>
          <p:cNvSpPr/>
          <p:nvPr/>
        </p:nvSpPr>
        <p:spPr>
          <a:xfrm>
            <a:off x="2286000" y="565099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5577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8EDF5"/>
                </a:solidFill>
                <a:latin typeface="Calibri"/>
              </a:defRPr>
            </a:pPr>
            <a:r>
              <a:t>Portfolio report + final refresh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B82F6"/>
                </a:solidFill>
                <a:latin typeface="Calibri"/>
              </a:defRPr>
            </a:pPr>
            <a:r>
              <a:t>Weekend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ARK Invest</a:t>
            </a:r>
            <a:r>
              <a:rPr sz="1400" b="0">
                <a:solidFill>
                  <a:srgbClr val="E8EDF5"/>
                </a:solidFill>
                <a:latin typeface="Calibri"/>
              </a:rPr>
              <a:t> tracking + summary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Deep research session</a:t>
            </a:r>
            <a:r>
              <a:rPr sz="1400" b="0">
                <a:solidFill>
                  <a:srgbClr val="E8EDF5"/>
                </a:solidFill>
                <a:latin typeface="Calibri"/>
              </a:rPr>
              <a:t> (Claude Sonnet)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Style-compliance audit</a:t>
            </a:r>
            <a:r>
              <a:rPr sz="1400" b="0">
                <a:solidFill>
                  <a:srgbClr val="E8EDF5"/>
                </a:solidFill>
                <a:latin typeface="Calibri"/>
              </a:rPr>
              <a:t> for all 7 portfolios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Security scan</a:t>
            </a:r>
            <a:r>
              <a:rPr sz="1400" b="0">
                <a:solidFill>
                  <a:srgbClr val="E8EDF5"/>
                </a:solidFill>
                <a:latin typeface="Calibri"/>
              </a:rPr>
              <a:t> + version check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Trust the Data: Anti-Hallucination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LLMs are never allowed to invent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200400" cy="201168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B82F6"/>
                </a:solidFill>
                <a:latin typeface="Calibri"/>
              </a:defRPr>
            </a:pPr>
            <a:r>
              <a:t>Step 1: Pure Python Data Gather</a:t>
            </a:r>
            <a:br/>
            <a:br/>
            <a:r>
              <a:t>morning_data_gather.py</a:t>
            </a:r>
            <a:br/>
            <a:r>
              <a:t>afternoon_data_gather.py</a:t>
            </a:r>
            <a:br/>
            <a:br/>
            <a:r>
              <a:t>Writes flat text file with</a:t>
            </a:r>
            <a:br/>
            <a:r>
              <a:t>=== SECTION === delimiters</a:t>
            </a:r>
            <a:br/>
            <a:r>
              <a:t>No LLM involved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49039" y="2286000"/>
            <a:ext cx="45720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2286000" cy="201168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0B90B"/>
                </a:solidFill>
                <a:latin typeface="Calibri"/>
              </a:defRPr>
            </a:pPr>
            <a:r>
              <a:t>Flat Text File</a:t>
            </a:r>
            <a:br/>
            <a:br/>
            <a:r>
              <a:t>Every price, stat, and</a:t>
            </a:r>
            <a:br/>
            <a:r>
              <a:t>fundamental captured</a:t>
            </a:r>
            <a:br/>
            <a:r>
              <a:t>verbatim from live APIs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75120" y="2286000"/>
            <a:ext cx="45720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1463040"/>
            <a:ext cx="4389120" cy="201168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00C48C"/>
                </a:solidFill>
                <a:latin typeface="Calibri"/>
              </a:defRPr>
            </a:pPr>
            <a:r>
              <a:t>Step 2: LLM Reads File Only</a:t>
            </a:r>
            <a:br/>
            <a:br/>
            <a:r>
              <a:t>Prompt rules:</a:t>
            </a:r>
            <a:br/>
            <a:r>
              <a:t>- Every number must appear verbatim in the file</a:t>
            </a:r>
            <a:br/>
            <a:r>
              <a:t>- No web search, no guessing</a:t>
            </a:r>
            <a:br/>
            <a:r>
              <a:t>- Missing data = "data unavailable"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B90B"/>
                </a:solidFill>
                <a:latin typeface="Calibri"/>
              </a:defRPr>
            </a:pPr>
            <a:r>
              <a:t>Runtime Guardrails: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Price Oracle</a:t>
            </a:r>
            <a:r>
              <a:rPr sz="1400" b="0">
                <a:solidFill>
                  <a:srgbClr val="E8EDF5"/>
                </a:solidFill>
                <a:latin typeface="Calibri"/>
              </a:rPr>
              <a:t> -- single source of truth, 10-min TTL cache, refuses stale data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Output Guardrail</a:t>
            </a:r>
            <a:r>
              <a:rPr sz="1400" b="0">
                <a:solidFill>
                  <a:srgbClr val="E8EDF5"/>
                </a:solidFill>
                <a:latin typeface="Calibri"/>
              </a:rPr>
              <a:t> -- scans every outbound message for $XXX.XX patterns, corrects &gt; 2% deviation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Dashboard &amp; Live Visibility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bigclaw.grandpapa.net -- Your window into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0B90B"/>
                </a:solidFill>
                <a:latin typeface="Calibri"/>
              </a:defRPr>
            </a:pPr>
            <a:r>
              <a:t>Key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194560" cy="86868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554480"/>
            <a:ext cx="3566160" cy="86868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8EDF5"/>
                </a:solidFill>
                <a:latin typeface="Calibri"/>
              </a:defRPr>
            </a:pPr>
            <a:r>
              <a:t>Planned actions (sells + strong buys only),</a:t>
            </a:r>
            <a:br/>
            <a:r>
              <a:t>7 portfolio cards, sector heatmap, recent trades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2194560" cy="86868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0B90B"/>
                </a:solidFill>
                <a:latin typeface="Calibri"/>
              </a:defRPr>
            </a:pPr>
            <a:r>
              <a:t>Signals (supervisory display)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651760"/>
            <a:ext cx="3566160" cy="86868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8EDF5"/>
                </a:solidFill>
                <a:latin typeface="Calibri"/>
              </a:defRPr>
            </a:pPr>
            <a:r>
              <a:t>All tickers with holding context, swap recs,</a:t>
            </a:r>
            <a:br/>
            <a:r>
              <a:t>score differentials. Macro, bonds,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2194560" cy="86868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48C"/>
                </a:solidFill>
                <a:latin typeface="Calibri"/>
              </a:defRPr>
            </a:pPr>
            <a:r>
              <a:t>Portfolio Detail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749040"/>
            <a:ext cx="3566160" cy="86868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8EDF5"/>
                </a:solidFill>
                <a:latin typeface="Calibri"/>
              </a:defRPr>
            </a:pPr>
            <a:r>
              <a:t>Sortable holdings table, P&amp;L per position,</a:t>
            </a:r>
            <a:br/>
            <a:r>
              <a:t>metrics cards, click any ticker to drill 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19"/>
            <a:ext cx="2194560" cy="86868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Ticker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4846319"/>
            <a:ext cx="3566160" cy="86868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8EDF5"/>
                </a:solidFill>
                <a:latin typeface="Calibri"/>
              </a:defRPr>
            </a:pPr>
            <a:r>
              <a:t>4 interactive charts + signal context</a:t>
            </a:r>
            <a:br/>
            <a:r>
              <a:t>(see next slide for details)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B82F6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554480"/>
            <a:ext cx="1463040" cy="64008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refresh_all.sh</a:t>
            </a:r>
            <a:br/>
            <a:r>
              <a:t>(5x daily)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41080" y="1691640"/>
            <a:ext cx="13716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78240" y="1554480"/>
            <a:ext cx="1463040" cy="64008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0B90B"/>
                </a:solidFill>
                <a:latin typeface="Calibri"/>
              </a:defRPr>
            </a:pPr>
            <a:r>
              <a:t>12 JSON files</a:t>
            </a:r>
            <a:br/>
            <a:r>
              <a:t>in docs/data/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287000" y="1691640"/>
            <a:ext cx="137160" cy="274320"/>
          </a:xfrm>
          <a:prstGeom prst="rightArrow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24160" y="1554480"/>
            <a:ext cx="1463040" cy="64008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  <a:latin typeface="Calibri"/>
              </a:defRPr>
            </a:pPr>
            <a:r>
              <a:t>git push</a:t>
            </a:r>
            <a:br/>
            <a:r>
              <a:t>to GitHub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B90B"/>
                </a:solidFill>
                <a:latin typeface="Calibri"/>
              </a:defRPr>
            </a:pPr>
            <a:r>
              <a:t>Dashboard vs Signals page: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200" b="0">
                <a:solidFill>
                  <a:srgbClr val="E8EDF5"/>
                </a:solidFill>
                <a:latin typeface="Calibri"/>
              </a:rPr>
              <a:t>Dashboard = </a:t>
            </a:r>
            <a:r>
              <a:rPr sz="1200" b="1">
                <a:solidFill>
                  <a:srgbClr val="E8EDF5"/>
                </a:solidFill>
                <a:latin typeface="Calibri"/>
              </a:rPr>
              <a:t>planned actions only</a:t>
            </a:r>
            <a:r>
              <a:rPr sz="1200" b="0">
                <a:solidFill>
                  <a:srgbClr val="E8EDF5"/>
                </a:solidFill>
                <a:latin typeface="Calibri"/>
              </a:rPr>
              <a:t> (sells + strong buys)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200" b="0">
                <a:solidFill>
                  <a:srgbClr val="E8EDF5"/>
                </a:solidFill>
                <a:latin typeface="Calibri"/>
              </a:rPr>
              <a:t>Signals = </a:t>
            </a:r>
            <a:r>
              <a:rPr sz="1200" b="1">
                <a:solidFill>
                  <a:srgbClr val="E8EDF5"/>
                </a:solidFill>
                <a:latin typeface="Calibri"/>
              </a:rPr>
              <a:t>supervisory display</a:t>
            </a:r>
            <a:r>
              <a:rPr sz="1200" b="0">
                <a:solidFill>
                  <a:srgbClr val="E8EDF5"/>
                </a:solidFill>
                <a:latin typeface="Calibri"/>
              </a:rPr>
              <a:t> (like Tesla FSD Supervised)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200" b="0">
                <a:solidFill>
                  <a:srgbClr val="E8EDF5"/>
                </a:solidFill>
                <a:latin typeface="Calibri"/>
              </a:rPr>
              <a:t>Each signal shows </a:t>
            </a:r>
            <a:r>
              <a:rPr sz="1200" b="1">
                <a:solidFill>
                  <a:srgbClr val="E8EDF5"/>
                </a:solidFill>
                <a:latin typeface="Calibri"/>
              </a:rPr>
              <a:t>portfolio tags</a:t>
            </a:r>
            <a:r>
              <a:rPr sz="1200" b="0">
                <a:solidFill>
                  <a:srgbClr val="E8EDF5"/>
                </a:solidFill>
                <a:latin typeface="Calibri"/>
              </a:rPr>
              <a:t>, position %, capacity status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200" b="1">
                <a:solidFill>
                  <a:srgbClr val="E8EDF5"/>
                </a:solidFill>
                <a:latin typeface="Calibri"/>
              </a:rPr>
              <a:t>Swap recommendations</a:t>
            </a:r>
            <a:r>
              <a:rPr sz="1200" b="0">
                <a:solidFill>
                  <a:srgbClr val="E8EDF5"/>
                </a:solidFill>
                <a:latin typeface="Calibri"/>
              </a:rPr>
              <a:t> with score differentials shown inline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200" b="0">
                <a:solidFill>
                  <a:srgbClr val="E8EDF5"/>
                </a:solidFill>
                <a:latin typeface="Calibri"/>
              </a:rPr>
              <a:t>9:00 AM refresh -&gt; </a:t>
            </a:r>
            <a:r>
              <a:rPr sz="1200" b="1">
                <a:solidFill>
                  <a:srgbClr val="E8EDF5"/>
                </a:solidFill>
                <a:latin typeface="Calibri"/>
              </a:rPr>
              <a:t>30-min review window</a:t>
            </a:r>
            <a:r>
              <a:rPr sz="1200" b="0">
                <a:solidFill>
                  <a:srgbClr val="E8EDF5"/>
                </a:solidFill>
                <a:latin typeface="Calibri"/>
              </a:rPr>
              <a:t> -&gt; 10:30 AM trades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200" b="1">
                <a:solidFill>
                  <a:srgbClr val="E8EDF5"/>
                </a:solidFill>
                <a:latin typeface="Calibri"/>
              </a:rPr>
              <a:t>Slack alerts</a:t>
            </a:r>
            <a:r>
              <a:rPr sz="1200" b="0">
                <a:solidFill>
                  <a:srgbClr val="E8EDF5"/>
                </a:solidFill>
                <a:latin typeface="Calibri"/>
              </a:rPr>
              <a:t> fire if any refresh fails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200" b="0">
                <a:solidFill>
                  <a:srgbClr val="E8EDF5"/>
                </a:solidFill>
                <a:latin typeface="Calibri"/>
              </a:rPr>
              <a:t>All refreshes are </a:t>
            </a:r>
            <a:r>
              <a:rPr sz="1200" b="1">
                <a:solidFill>
                  <a:srgbClr val="E8EDF5"/>
                </a:solidFill>
                <a:latin typeface="Calibri"/>
              </a:rPr>
              <a:t>pure Python</a:t>
            </a:r>
            <a:r>
              <a:rPr sz="1200" b="0">
                <a:solidFill>
                  <a:srgbClr val="E8EDF5"/>
                </a:solidFill>
                <a:latin typeface="Calibri"/>
              </a:rPr>
              <a:t> — zero LLM cost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Ticker Research: Charts &amp; Signal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Click any ticker symbol anywhere on the site to open its detail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B90B"/>
                </a:solidFill>
                <a:latin typeface="Calibri"/>
              </a:defRPr>
            </a:pPr>
            <a:r>
              <a:t>4 Interactive Chart Types (toggle tabs)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645920" cy="73152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Candlestick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645920"/>
            <a:ext cx="3474720" cy="73152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8EDF5"/>
                </a:solidFill>
                <a:latin typeface="Calibri"/>
              </a:defRPr>
            </a:pPr>
            <a:r>
              <a:t>OHLCV price action with volume bars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645920" cy="73152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48C"/>
                </a:solidFill>
                <a:latin typeface="Calibri"/>
              </a:defRPr>
            </a:pPr>
            <a:r>
              <a:t>MACD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60320"/>
            <a:ext cx="3474720" cy="73152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8EDF5"/>
                </a:solidFill>
                <a:latin typeface="Calibri"/>
              </a:defRPr>
            </a:pPr>
            <a:r>
              <a:t>Momentum: MACD line, signal line, histogram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645920" cy="73152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B90B"/>
                </a:solidFill>
                <a:latin typeface="Calibri"/>
              </a:defRPr>
            </a:pPr>
            <a:r>
              <a:t>RSI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474720"/>
            <a:ext cx="3474720" cy="73152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8EDF5"/>
                </a:solidFill>
                <a:latin typeface="Calibri"/>
              </a:defRPr>
            </a:pPr>
            <a:r>
              <a:t>Overbought (70) / Oversold (30) zones marked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645920" cy="73152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AA520"/>
                </a:solidFill>
                <a:latin typeface="Calibri"/>
              </a:defRPr>
            </a:pPr>
            <a:r>
              <a:t>Monte Carlo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4389120"/>
            <a:ext cx="3474720" cy="731520"/>
          </a:xfrm>
          <a:prstGeom prst="roundRect">
            <a:avLst/>
          </a:prstGeom>
          <a:solidFill>
            <a:srgbClr val="161B28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8EDF5"/>
                </a:solidFill>
                <a:latin typeface="Calibri"/>
              </a:defRPr>
            </a:pPr>
            <a:r>
              <a:t>Probabilistic price projections, 5th-95th percentile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B82F6"/>
                </a:solidFill>
                <a:latin typeface="Calibri"/>
              </a:defRPr>
            </a:pPr>
            <a:r>
              <a:t>Time Periods &amp; Signal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4 time periods</a:t>
            </a:r>
            <a:r>
              <a:rPr sz="1400" b="0">
                <a:solidFill>
                  <a:srgbClr val="E8EDF5"/>
                </a:solidFill>
                <a:latin typeface="Calibri"/>
              </a:rPr>
              <a:t>: 1 Month, 3 Month, 6 Month, 1 Year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0">
                <a:solidFill>
                  <a:srgbClr val="E8EDF5"/>
                </a:solidFill>
                <a:latin typeface="Calibri"/>
              </a:rPr>
              <a:t>All charts are </a:t>
            </a:r>
            <a:r>
              <a:rPr sz="1400" b="1">
                <a:solidFill>
                  <a:srgbClr val="E8EDF5"/>
                </a:solidFill>
                <a:latin typeface="Calibri"/>
              </a:rPr>
              <a:t>interactive</a:t>
            </a:r>
            <a:r>
              <a:rPr sz="1400" b="0">
                <a:solidFill>
                  <a:srgbClr val="E8EDF5"/>
                </a:solidFill>
                <a:latin typeface="Calibri"/>
              </a:rPr>
              <a:t> with hover tooltips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B90B"/>
                </a:solidFill>
                <a:latin typeface="Calibri"/>
              </a:defRPr>
            </a:pPr>
            <a:r>
              <a:t>Signal Context Card: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Buy / Sell / Hold</a:t>
            </a:r>
            <a:r>
              <a:rPr sz="1300" b="0">
                <a:solidFill>
                  <a:srgbClr val="E8EDF5"/>
                </a:solidFill>
                <a:latin typeface="Calibri"/>
              </a:rPr>
              <a:t> badge with color coding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Numeric score</a:t>
            </a:r>
            <a:r>
              <a:rPr sz="1300" b="0">
                <a:solidFill>
                  <a:srgbClr val="E8EDF5"/>
                </a:solidFill>
                <a:latin typeface="Calibri"/>
              </a:rPr>
              <a:t> from the decision engine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 b="1">
                <a:solidFill>
                  <a:srgbClr val="E8EDF5"/>
                </a:solidFill>
                <a:latin typeface="Calibri"/>
              </a:rPr>
              <a:t>Full reasoning list</a:t>
            </a:r>
            <a:r>
              <a:rPr sz="1300" b="0">
                <a:solidFill>
                  <a:srgbClr val="E8EDF5"/>
                </a:solidFill>
                <a:latin typeface="Calibri"/>
              </a:rPr>
              <a:t> -- each point color-coded: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>
                <a:solidFill>
                  <a:srgbClr val="E8EDF5"/>
                </a:solidFill>
                <a:latin typeface="Calibri"/>
              </a:rPr>
              <a:t>  Green = bullish  |  Red = bearish  |  Gray = neutral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300">
                <a:solidFill>
                  <a:srgbClr val="E8EDF5"/>
                </a:solidFill>
                <a:latin typeface="Calibri"/>
              </a:rPr>
              <a:t>Direct links back to Signals, Portfolio, or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728655" cy="64008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B95A8"/>
                </a:solidFill>
                <a:latin typeface="Calibri"/>
              </a:defRPr>
            </a:pPr>
            <a:r>
              <a:t>Performance Chart page: All 7 portfolios plotted together  |  Click any legend item to expand holdings  |  Click any ticker to drill into charts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Interacting with BigClaw via Slack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36 tools at your fingertips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500" b="1">
                <a:solidFill>
                  <a:srgbClr val="E8EDF5"/>
                </a:solidFill>
                <a:latin typeface="Calibri"/>
              </a:rPr>
              <a:t>Quotes</a:t>
            </a:r>
            <a:r>
              <a:rPr sz="1500" b="0">
                <a:solidFill>
                  <a:srgbClr val="E8EDF5"/>
                </a:solidFill>
                <a:latin typeface="Calibri"/>
              </a:rPr>
              <a:t>, 7 chart types, news, sentiment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500" b="1">
                <a:solidFill>
                  <a:srgbClr val="E8EDF5"/>
                </a:solidFill>
                <a:latin typeface="Calibri"/>
              </a:rPr>
              <a:t>Portfolio</a:t>
            </a:r>
            <a:r>
              <a:rPr sz="1500" b="0">
                <a:solidFill>
                  <a:srgbClr val="E8EDF5"/>
                </a:solidFill>
                <a:latin typeface="Calibri"/>
              </a:rPr>
              <a:t> view/edit, manual buy/sell, stops/limits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500" b="0">
                <a:solidFill>
                  <a:srgbClr val="E8EDF5"/>
                </a:solidFill>
                <a:latin typeface="Calibri"/>
              </a:rPr>
              <a:t>"</a:t>
            </a:r>
            <a:r>
              <a:rPr sz="1500" b="1">
                <a:solidFill>
                  <a:srgbClr val="E8EDF5"/>
                </a:solidFill>
                <a:latin typeface="Calibri"/>
              </a:rPr>
              <a:t>Run analysis now</a:t>
            </a:r>
            <a:r>
              <a:rPr sz="1500" b="0">
                <a:solidFill>
                  <a:srgbClr val="E8EDF5"/>
                </a:solidFill>
                <a:latin typeface="Calibri"/>
              </a:rPr>
              <a:t>", concentration report, etc.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500" b="1">
                <a:solidFill>
                  <a:srgbClr val="E8EDF5"/>
                </a:solidFill>
                <a:latin typeface="Calibri"/>
              </a:rPr>
              <a:t>Conversation memory</a:t>
            </a:r>
            <a:r>
              <a:rPr sz="1500" b="0">
                <a:solidFill>
                  <a:srgbClr val="E8EDF5"/>
                </a:solidFill>
                <a:latin typeface="Calibri"/>
              </a:rPr>
              <a:t> per channel -- context persists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500">
                <a:solidFill>
                  <a:srgbClr val="E8EDF5"/>
                </a:solidFill>
                <a:latin typeface="Calibri"/>
              </a:rPr>
              <a:t>Just ask: "How is NVDA doing?"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0B90B"/>
                </a:solidFill>
                <a:latin typeface="Calibri"/>
              </a:defRPr>
            </a:pPr>
            <a:r>
              <a:t>Automated Reports: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5544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Morning</a:t>
            </a:r>
            <a:r>
              <a:rPr sz="1400" b="0">
                <a:solidFill>
                  <a:srgbClr val="E8EDF5"/>
                </a:solidFill>
                <a:latin typeface="Calibri"/>
              </a:rPr>
              <a:t> market overview + portfolio implications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Afternoon</a:t>
            </a:r>
            <a:r>
              <a:rPr sz="1400" b="0">
                <a:solidFill>
                  <a:srgbClr val="E8EDF5"/>
                </a:solidFill>
                <a:latin typeface="Calibri"/>
              </a:rPr>
              <a:t> portfolio performance summary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Real-time</a:t>
            </a:r>
            <a:r>
              <a:rPr sz="1400" b="0">
                <a:solidFill>
                  <a:srgbClr val="E8EDF5"/>
                </a:solidFill>
                <a:latin typeface="Calibri"/>
              </a:rPr>
              <a:t> trade &amp; stop-trigger alerts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0B90B"/>
                </a:solidFill>
                <a:latin typeface="Calibri"/>
              </a:rPr>
              <a:t>  &gt;  </a:t>
            </a:r>
            <a:r>
              <a:rPr sz="1400" b="1">
                <a:solidFill>
                  <a:srgbClr val="E8EDF5"/>
                </a:solidFill>
                <a:latin typeface="Calibri"/>
              </a:rPr>
              <a:t>Concentration</a:t>
            </a:r>
            <a:r>
              <a:rPr sz="1400" b="0">
                <a:solidFill>
                  <a:srgbClr val="E8EDF5"/>
                </a:solidFill>
                <a:latin typeface="Calibri"/>
              </a:rPr>
              <a:t> warnings when position &gt; 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91440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8B95A8"/>
                </a:solidFill>
                <a:latin typeface="Calibri"/>
              </a:defRPr>
            </a:pPr>
            <a:r>
              <a:t>Personality (from SOUL.md): Sharp, direct, data-first. Humor only when appropriate.</a:t>
            </a:r>
            <a:br/>
            <a:r>
              <a:t>Never invents prices -- always calls a data tool before answering any market question.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8 Design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Follow these or the system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16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E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The Pi is the 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All execution, state, and decisions happen on the Pi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1188720"/>
            <a:ext cx="411480" cy="41148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E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Zero-token where possible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Data gathering, stops, trades = pure Python, no LLM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560320"/>
            <a:ext cx="411480" cy="41148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E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Style fidelity above 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Each portfolio's signal weights are sacred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2560320"/>
            <a:ext cx="411480" cy="41148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E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Consistent trading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10 AM - 4 PM ET weekdays -- enforced everywhere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E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Anti-hallucination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Data files first, LLM second -- always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931920"/>
            <a:ext cx="411480" cy="41148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E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Sell before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Free cash before deploying -- prevents over-allocation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5303520"/>
            <a:ext cx="411480" cy="41148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E1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Stops only move 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Trailing stops ratchet upward, never decrease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5303520"/>
            <a:ext cx="411480" cy="411480"/>
          </a:xfrm>
          <a:prstGeom prst="ellipse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0E1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Log everything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B95A8"/>
                </a:solidFill>
                <a:latin typeface="Calibri"/>
              </a:defRPr>
            </a:pPr>
            <a:r>
              <a:t>Every trade, API call, and decision with timestamps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Rebuilding BigClaw from a Crash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B95A8"/>
                </a:solidFill>
                <a:latin typeface="Calibri"/>
              </a:defRPr>
            </a:pPr>
            <a:r>
              <a:t>If the Pi dies -- how to restore in &lt; 1 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17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0B90B"/>
                </a:solidFill>
                <a:latin typeface="Calibri"/>
              </a:defRPr>
            </a:pPr>
            <a:r>
              <a:t>New Pi 4/5 + USB SSD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Install Debian 13 (Trixie), configure SSH + networking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0B90B"/>
                </a:solidFill>
                <a:latin typeface="Calibri"/>
              </a:defRPr>
            </a:pPr>
            <a:r>
              <a:t>Restore codebases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600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Clone ~/bigclaw-ai/ from GitHub review copy + restore ~/.openclaw/ from backup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0B90B"/>
                </a:solidFill>
                <a:latin typeface="Calibri"/>
              </a:defRPr>
            </a:pPr>
            <a:r>
              <a:t>Re-create secrets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46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Populate ~/.env_secrets (Alpaca, Anthropic, Slack, Discord, OpenRouter, etc.)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0B90B"/>
                </a:solidFill>
                <a:latin typeface="Calibri"/>
              </a:defRPr>
            </a:pPr>
            <a:r>
              <a:t>Restore or resync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246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Copy portfolios.db from backup, or let autonomous_trader.py sync with Alpaca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6177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0B90B"/>
                </a:solidFill>
                <a:latin typeface="Calibri"/>
              </a:defRPr>
            </a:pPr>
            <a:r>
              <a:t>Install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92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Copy systemd service files + restore crontab (8 scheduled jobs)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46177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0B90B"/>
                </a:solidFill>
                <a:latin typeface="Calibri"/>
              </a:defRPr>
            </a:pPr>
            <a:r>
              <a:t>Verify everything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892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price_refresh -&gt; stop_check -&gt; Slack message -&gt; full trading 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5486400"/>
            <a:ext cx="7589520" cy="548640"/>
          </a:xfrm>
          <a:prstGeom prst="roundRect">
            <a:avLst/>
          </a:prstGeom>
          <a:solidFill>
            <a:srgbClr val="1E2536"/>
          </a:solidFill>
          <a:ln w="1270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C48C"/>
                </a:solidFill>
                <a:latin typeface="Calibri"/>
              </a:defRPr>
            </a:pPr>
            <a:r>
              <a:t>You now have a fully functional clone.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5A8"/>
                </a:solidFill>
              </a:defRPr>
            </a:pPr>
            <a:r>
              <a:t>18</a:t>
            </a:r>
          </a:p>
        </p:txBody>
      </p:sp>
      <p:pic>
        <p:nvPicPr>
          <p:cNvPr id="4" name="Picture 3" descr="bigclaw 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4320"/>
            <a:ext cx="2286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0B90B"/>
                </a:solidFill>
                <a:latin typeface="Calibri"/>
              </a:defRPr>
            </a:pPr>
            <a:r>
              <a:t>BigClaw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E8EDF5"/>
                </a:solidFill>
                <a:latin typeface="Calibri"/>
              </a:defRPr>
            </a:pPr>
            <a:r>
              <a:t>You now know how BigClaw works, why it works that way,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E8EDF5"/>
                </a:solidFill>
                <a:latin typeface="Calibri"/>
              </a:defRPr>
            </a:pPr>
            <a:r>
              <a:t>and how to keep it running.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297680"/>
            <a:ext cx="3931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0B90B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B82F6"/>
                </a:solidFill>
                <a:latin typeface="Calibri"/>
              </a:defRPr>
            </a:pPr>
            <a:r>
              <a:t>Live dashboard:  bigclaw.grandpapa.net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GitHub review copy:  github.com/cbiggs1-tech/bigclaw-codebase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5A8"/>
                </a:solidFill>
                <a:latin typeface="Calibri"/>
              </a:defRPr>
            </a:pPr>
            <a:r>
              <a:t>Full Design Basis Document (this deck's companion): DBD-AI-001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June 25-26 Corrections: Back to Short-Term + Empirical VIX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200"/>
              <a:t>A later out-of-context session had drifted the two LLM books; June 25-26 restored the original design and made the data pipeline bulletproof.</a:t>
            </a:r>
          </a:p>
          <a:p>
            <a:r>
              <a:rPr sz="1200"/>
              <a:t>ETF Focus -&gt; SHORT-TERM (reverted the June-16 months-horizon pivot): the experiment learns faster with fast turnover, and the paired A/B only holds if both books share a horizon. Kept the good parts - gap-analysis, do-not-open-into-a-binary-event, macro-regime pack.</a:t>
            </a:r>
          </a:p>
          <a:p>
            <a:r>
              <a:rPr sz="1200"/>
              <a:t>Comando -&gt; NEWS-ONLY discovery (removed June-17 momentum sourcing): price momentum with no news behind it is bandwagon-chasing, not a thesis. Every entry must rest on a citable, still-playing-out catalyst; thin news = hold cash, do not manufacture a momentum trade.</a:t>
            </a:r>
          </a:p>
          <a:p>
            <a:r>
              <a:rPr sz="1200"/>
              <a:t>Signals pipeline fixed for good (June 25): decision-engine prices moved yfinance -&gt; Alpaca (554 tickers in ~70s vs a 30-min timeout under Yahoo 429s) with a yfinance fallback; finviz given a fail-fast circuit breaker. Full rescreen 44 min -&gt; 2.5 min.</a:t>
            </a:r>
          </a:p>
          <a:p>
            <a:r>
              <a:rPr sz="1200"/>
              <a:t>Empirical VIX calibration (June 26): the volatility mandate had no absolute thresholds, so the LLM read a NORMAL VIX of 19-20 as a fear spike and throttled to cash (it sized its PODD winner at ~6%). Re-derived from a year of ^VIX vs forward SPY: drop odds stay at the ~11% base rate up to VIX 22, then JUMP to ~40% (4x). Threshold of concern = 22, not the high teens. Bands: &lt;22 NORMAL, 22-25 ELEVATED, 25-30 HIGH, &gt;30 EXTREME.</a:t>
            </a:r>
          </a:p>
          <a:p>
            <a:r>
              <a:rPr sz="1200"/>
              <a:t>Status: all shipped, committed, and pushed to GitHub; Design Basis updated current through June 26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